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930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B1930"/>
                </a:solidFill>
                <a:latin typeface="Calibri"/>
              </a:rPr>
              <a:t>Forecast error by test period (lower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FORESIGHT forecast</c:v>
                </c:pt>
              </c:strCache>
            </c:strRef>
          </c:tx>
          <c:spPr>
            <a:solidFill>
              <a:srgbClr val="6B5B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9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Test 1</c:v>
                  </c:pt>
                  <c:pt idx="1">
                    <c:v>Test 2</c:v>
                  </c:pt>
                  <c:pt idx="2">
                    <c:v>Test 3</c:v>
                  </c:pt>
                  <c:pt idx="3">
                    <c:v>Test 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0.16</c:v>
                </c:pt>
                <c:pt idx="1">
                  <c:v>0.155</c:v>
                </c:pt>
                <c:pt idx="2">
                  <c:v>0.164</c:v>
                </c:pt>
                <c:pt idx="3">
                  <c:v>0.198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Your current-style guess</c:v>
                </c:pt>
              </c:strCache>
            </c:strRef>
          </c:tx>
          <c:spPr>
            <a:solidFill>
              <a:srgbClr val="D69B4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19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Test 1</c:v>
                  </c:pt>
                  <c:pt idx="1">
                    <c:v>Test 2</c:v>
                  </c:pt>
                  <c:pt idx="2">
                    <c:v>Test 3</c:v>
                  </c:pt>
                  <c:pt idx="3">
                    <c:v>Test 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0.197</c:v>
                </c:pt>
                <c:pt idx="1">
                  <c:v>0.209</c:v>
                </c:pt>
                <c:pt idx="2">
                  <c:v>0.213</c:v>
                </c:pt>
                <c:pt idx="3">
                  <c:v>0.232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B19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5A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8"/>
        </c:scaling>
        <c:delete val="0"/>
        <c:axPos val="l"/>
        <c:majorGridlines>
          <c:spPr>
            <a:ln w="12700" cap="flat">
              <a:solidFill>
                <a:srgbClr val="EDEB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A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C5A7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engagement in one line: you asked what to reorder and what to clear; this is the answer, built from your data, with the accuracy stated honestly.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their own words from the brief. Both failure modes come from the same root cause: no forward view of demand at SKU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fourth point: reproducibility. They own this, it is not a one-off consulting artefact.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benchmark is a seasonal-naive forecast — roughly what planning on last year's numbers achieves. Beating it by 20 percent on every fold is the evidence that this is worth acting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business findings, not chart tours. Each one implies a change in how they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 for Ops is workload reduction: 31 decisions, not 200.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SKU0128 alone is 53 lakh of the 2.1 crore. If they do one thing after this meeting, it is that reorder.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Volunteering limitations is what makes the accuracy claim on slide 4 credible. Do not skip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third point: measuring whether the flags were right is what turns this from a one-off analysis into a system that improves.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280160"/>
            <a:ext cx="4754880" cy="4754880"/>
          </a:xfrm>
          <a:prstGeom prst="ellipse">
            <a:avLst/>
          </a:prstGeom>
          <a:solidFill>
            <a:srgbClr val="2A2456"/>
          </a:solidFill>
          <a:ln w="12700">
            <a:solidFill>
              <a:srgbClr val="2A24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4023360"/>
            <a:ext cx="2743200" cy="2743200"/>
          </a:xfrm>
          <a:prstGeom prst="ellipse">
            <a:avLst/>
          </a:prstGeom>
          <a:solidFill>
            <a:srgbClr val="6B5BD6"/>
          </a:solidFill>
          <a:ln w="12700">
            <a:solidFill>
              <a:srgbClr val="6B5B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6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NORTHBAY LIVING  ·  DEMAND &amp; INVENTORY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FORESIGHT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C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guessing what to reorder.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404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8-week demand forecast and stock early-warning system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your own sales and inventory data.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85216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Head of Operations and Finance  ·  Zidio Development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losing money in two directions at once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planning gap causes both problems.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3200400"/>
          </a:xfrm>
          <a:prstGeom prst="roundRect">
            <a:avLst>
              <a:gd name="adj" fmla="val 4000"/>
            </a:avLst>
          </a:prstGeom>
          <a:solidFill>
            <a:srgbClr val="FBEEEC"/>
          </a:solidFill>
          <a:ln w="12700">
            <a:solidFill>
              <a:srgbClr val="F0D5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48840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1671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27632" y="21762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Best-sellers run out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83464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4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you can never recover. The customer buys elsewhere and may not come back.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4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SKUs are projected to run short within their replenishment lead time.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40690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₹1.02 Cr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46634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sales at risk right now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1828800"/>
            <a:ext cx="5257800" cy="3200400"/>
          </a:xfrm>
          <a:prstGeom prst="roundRect">
            <a:avLst>
              <a:gd name="adj" fmla="val 4000"/>
            </a:avLst>
          </a:prstGeom>
          <a:solidFill>
            <a:srgbClr val="F4F3FA"/>
          </a:solidFill>
          <a:ln w="12700">
            <a:solidFill>
              <a:srgbClr val="E1DD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2148840"/>
            <a:ext cx="502920" cy="502920"/>
          </a:xfrm>
          <a:prstGeom prst="ellipse">
            <a:avLst/>
          </a:prstGeom>
          <a:solidFill>
            <a:srgbClr val="6B5BD6"/>
          </a:solidFill>
          <a:ln w="12700">
            <a:solidFill>
              <a:srgbClr val="6B5B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216712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7251192" y="21762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movers pile up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83464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4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locked in stock that eventually gets marked down, eroding margin twice.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4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SKUs hold more than 12 weeks of cover — the median is 24 weeks.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40690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B5B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₹1.08 Cr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466344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working capital tied up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3492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₹2.1 Cr of value in play across 31 of your 200 SKUs.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now have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pieces, each one usable without a data scientist.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66928" cy="566928"/>
          </a:xfrm>
          <a:prstGeom prst="ellipse">
            <a:avLst/>
          </a:prstGeom>
          <a:solidFill>
            <a:srgbClr val="6B5BD6"/>
          </a:solidFill>
          <a:ln w="12700">
            <a:solidFill>
              <a:srgbClr val="6B5B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810512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6916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demand forecast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93976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units per SKU per week, eight weeks out, with a confidence range — not a single number pretending to be certain.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85800" y="2871216"/>
            <a:ext cx="566928" cy="5669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944368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82549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stockout early-warning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227832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the forecast over your actual lead time against stock on hand and on order. Flags what will run short before it does.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85800" y="4005072"/>
            <a:ext cx="566928" cy="566928"/>
          </a:xfrm>
          <a:prstGeom prst="ellipse">
            <a:avLst/>
          </a:prstGeom>
          <a:solidFill>
            <a:srgbClr val="D69B45"/>
          </a:solidFill>
          <a:ln w="12700">
            <a:solidFill>
              <a:srgbClr val="D69B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4078224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95935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overstock flag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4361688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stock covering far more weeks than you will sell, with the rupee value locked up in it.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85800" y="5138928"/>
            <a:ext cx="566928" cy="566928"/>
          </a:xfrm>
          <a:prstGeom prst="ellipse">
            <a:avLst/>
          </a:prstGeom>
          <a:solidFill>
            <a:srgbClr val="3F9E6A"/>
          </a:solidFill>
          <a:ln w="12700">
            <a:solidFill>
              <a:srgbClr val="3F9E6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5212080"/>
            <a:ext cx="566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509320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planning dashboard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5495544"/>
            <a:ext cx="9692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category, see the prioritised reorder and markdown lists, and export them. Live on a web link.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rebuilds from your raw extracts with one command, so you can refresh it next month without us.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 the forecast actually any good?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the hard way: trained only on the past, then scored on weeks it had never seen.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66751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783080"/>
            <a:ext cx="3840480" cy="1783080"/>
          </a:xfrm>
          <a:prstGeom prst="roundRect">
            <a:avLst>
              <a:gd name="adj" fmla="val 6154"/>
            </a:avLst>
          </a:prstGeom>
          <a:solidFill>
            <a:srgbClr val="F4F3FA"/>
          </a:solidFill>
          <a:ln w="12700">
            <a:solidFill>
              <a:srgbClr val="E6E3F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55280" y="203911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9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8620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than the naive approach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955280" y="31729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in all four test periods, not just on average.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3794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 in plain terms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680960" y="416052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4A4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100 units you actually sell, the forecast is off by about 17 — against 21 for a same-week-last-year guess.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best in week 1 and degrades gradually to week 8. Trust the near weeks more.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your data already told us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that change how planning effort should be spent.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38728" cy="3657600"/>
          </a:xfrm>
          <a:prstGeom prst="roundRect">
            <a:avLst>
              <a:gd name="adj" fmla="val 3618"/>
            </a:avLst>
          </a:prstGeom>
          <a:solidFill>
            <a:srgbClr val="F4F3FA"/>
          </a:solidFill>
          <a:ln w="12700">
            <a:solidFill>
              <a:srgbClr val="E6E3F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21488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6B5B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0175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comes from the top 20% of SKUs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88620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top 10 products carry 64% of all the value at risk. Planning attention should follow that curve, not be spread evenly across 200 products.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52544" y="1828800"/>
            <a:ext cx="3538728" cy="3657600"/>
          </a:xfrm>
          <a:prstGeom prst="roundRect">
            <a:avLst>
              <a:gd name="adj" fmla="val 3618"/>
            </a:avLst>
          </a:prstGeom>
          <a:solidFill>
            <a:srgbClr val="F4F3FA"/>
          </a:solidFill>
          <a:ln w="12700">
            <a:solidFill>
              <a:srgbClr val="E6E3F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72584" y="21488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69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2.7×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4672584" y="30175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between peak and quiet weeks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672584" y="388620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is strong and predictable. A flat reorder rule over-orders in the quiet season and under-orders straight into the peak.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65008" y="1828800"/>
            <a:ext cx="3538728" cy="3657600"/>
          </a:xfrm>
          <a:prstGeom prst="roundRect">
            <a:avLst>
              <a:gd name="adj" fmla="val 3618"/>
            </a:avLst>
          </a:prstGeom>
          <a:solidFill>
            <a:srgbClr val="F4F3FA"/>
          </a:solidFill>
          <a:ln w="12700">
            <a:solidFill>
              <a:srgbClr val="E6E3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5048" y="214884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F9E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+80%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8385048" y="301752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lift during promotion weeks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385048" y="388620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A4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nearly double units sold. Any plan that ignores the promo calendar will under-order ahead of every campaign you run.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money is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SKU sorted into one of four actions.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DAF0"/>
            </a:solidFill>
            <a:prstDash val="solid"/>
          </a:ln>
          <a:effectLst>
            <a:outerShdw sx="100000" sy="100000" kx="0" ky="0" algn="bl" rotWithShape="0" blurRad="101600" dist="12700" dir="5400000">
              <a:srgbClr val="BBBBB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960120" cy="9601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450592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2103120" y="2148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Reorder now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254203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a replenishment order before stock runs out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103120" y="31272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₹1.02 Cr at risk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DAF0"/>
            </a:solidFill>
            <a:prstDash val="solid"/>
          </a:ln>
          <a:effectLst>
            <a:outerShdw sx="100000" sy="100000" kx="0" ky="0" algn="bl" rotWithShape="0" blurRad="101600" dist="12700" dir="5400000">
              <a:srgbClr val="BBBBBB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2240280"/>
            <a:ext cx="960120" cy="960120"/>
          </a:xfrm>
          <a:prstGeom prst="ellipse">
            <a:avLst/>
          </a:prstGeom>
          <a:solidFill>
            <a:srgbClr val="6B5BD6"/>
          </a:solidFill>
          <a:ln w="12700">
            <a:solidFill>
              <a:srgbClr val="6B5B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83680" y="2450592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148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Markdown / clear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254203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or discount to release working capital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31272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₹1.08 Cr locked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8620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DAF0"/>
            </a:solidFill>
            <a:prstDash val="solid"/>
          </a:ln>
          <a:effectLst>
            <a:outerShdw sx="100000" sy="100000" kx="0" ky="0" algn="bl" rotWithShape="0" blurRad="101600" dist="12700" dir="5400000">
              <a:srgbClr val="BBBBBB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60120" y="4297680"/>
            <a:ext cx="960120" cy="960120"/>
          </a:xfrm>
          <a:prstGeom prst="ellipse">
            <a:avLst/>
          </a:prstGeom>
          <a:solidFill>
            <a:srgbClr val="D69B45"/>
          </a:solidFill>
          <a:ln w="12700">
            <a:solidFill>
              <a:srgbClr val="D69B4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4507992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2103120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/ volatile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2103120" y="459943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Erratic demand — review manually before ordering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2103120" y="51846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SKUs this cycle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3886200"/>
            <a:ext cx="52578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EDAF0"/>
            </a:solidFill>
            <a:prstDash val="solid"/>
          </a:ln>
          <a:effectLst>
            <a:outerShdw sx="100000" sy="100000" kx="0" ky="0" algn="bl" rotWithShape="0" blurRad="101600" dist="12700" dir="5400000">
              <a:srgbClr val="BBBBBB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0" y="4297680"/>
            <a:ext cx="960120" cy="960120"/>
          </a:xfrm>
          <a:prstGeom prst="ellipse">
            <a:avLst/>
          </a:prstGeom>
          <a:solidFill>
            <a:srgbClr val="3F9E6A"/>
          </a:solidFill>
          <a:ln w="12700">
            <a:solidFill>
              <a:srgbClr val="3F9E6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83680" y="4507992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169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7726680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Healthy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726680" y="459943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A4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position is appropriate — no action needed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726680" y="51846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alone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31 of 200 SKUs need a decision this cycle — that is the point. The system tells you where not to look.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do this week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SKUs carrying the most value. Work down from the top.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1691640"/>
                <a:gridCol w="1463040"/>
                <a:gridCol w="4754880"/>
                <a:gridCol w="16459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5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5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at stake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5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9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SKU0128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8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Kitchen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Reorder now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8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Selling ~259/wk with only 1 week of cover left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19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₹53.2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9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SKU0194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8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5B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8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2,348 units on hand — 22 weeks of cover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19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₹24.1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9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SKU0148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8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Kitchen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Reorder now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8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Selling ~129/wk with 1.4 weeks of cover left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19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₹17.3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9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SKU0174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8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F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8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value but stock position is appropriate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19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₹14.0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9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SKU0047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8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Appliances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5B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8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1,755 units on hand — 19 weeks of cover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19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₹13.4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9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SKU0008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A48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Kitchen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B5B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4A48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1,780 units on hand — 29 weeks of cover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B19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₹12.7 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0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Acting on the top two alone addresses ₹77 L — 36% of the total value in play.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prioritised list, filterable and exportable, is on the dashboard.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 not do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plainly, so you know where judgement is still required.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3232" y="1828800"/>
            <a:ext cx="237744" cy="237744"/>
          </a:xfrm>
          <a:prstGeom prst="ellipse">
            <a:avLst/>
          </a:prstGeom>
          <a:solidFill>
            <a:srgbClr val="D69B45"/>
          </a:solidFill>
          <a:ln w="12700">
            <a:solidFill>
              <a:srgbClr val="D69B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70432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products are weak spots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212080" y="1719072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A4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SKUs with under three months of history borrow their seasonal pattern from their category. Treat those forecasts as indicative.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13232" y="2670048"/>
            <a:ext cx="237744" cy="237744"/>
          </a:xfrm>
          <a:prstGeom prst="ellipse">
            <a:avLst/>
          </a:prstGeom>
          <a:solidFill>
            <a:srgbClr val="D69B45"/>
          </a:solidFill>
          <a:ln w="12700">
            <a:solidFill>
              <a:srgbClr val="D69B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70432" y="25786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Promotion depth is not modelled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2560320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A4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knows a promotion is running, not how deep the discount is. An unusually aggressive campaign will be under-forecast.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13232" y="3511296"/>
            <a:ext cx="237744" cy="237744"/>
          </a:xfrm>
          <a:prstGeom prst="ellipse">
            <a:avLst/>
          </a:prstGeom>
          <a:solidFill>
            <a:srgbClr val="D69B45"/>
          </a:solidFill>
          <a:ln w="12700">
            <a:solidFill>
              <a:srgbClr val="D69B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70432" y="341985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data is a weekly snapshot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3401568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A4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 that moved sharply since the last snapshot can be mis-scored. The forecast is only as fresh as the stock feed.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3232" y="4352544"/>
            <a:ext cx="237744" cy="237744"/>
          </a:xfrm>
          <a:prstGeom prst="ellipse">
            <a:avLst/>
          </a:prstGeom>
          <a:solidFill>
            <a:srgbClr val="D69B45"/>
          </a:solidFill>
          <a:ln w="12700">
            <a:solidFill>
              <a:srgbClr val="D69B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70432" y="42611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Thresholds are business choices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4242816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A4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25% safety buffer and 12-week cover limit are settings, not discoveries. They should be tuned to your service-level target.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13232" y="5193792"/>
            <a:ext cx="237744" cy="237744"/>
          </a:xfrm>
          <a:prstGeom prst="ellipse">
            <a:avLst/>
          </a:prstGeom>
          <a:solidFill>
            <a:srgbClr val="D69B45"/>
          </a:solidFill>
          <a:ln w="12700">
            <a:solidFill>
              <a:srgbClr val="D69B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70432" y="51023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cannot predict the unprecedented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5084064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4A48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supply shock or a viral product falls outside anything in the history. The confidence range will be too narrow in those conditions.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806440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F4F3FA"/>
          </a:solidFill>
          <a:ln w="12700">
            <a:solidFill>
              <a:srgbClr val="E6E3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8680" y="59253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19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decision support. It narrows 200 products to roughly 30 decisions — it does not replace your planners' judgement on those 30.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2A2456"/>
          </a:solidFill>
          <a:ln w="12700">
            <a:solidFill>
              <a:srgbClr val="2A245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8988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steps, in order.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6B5BD6"/>
          </a:solidFill>
          <a:ln w="12700">
            <a:solidFill>
              <a:srgbClr val="6B5B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03704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1305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 on the 31 flagged SKUs this week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532888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79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the 13 replenishment orders and put the 18 overstocked lines into the next markdown cycle. Suggested order quantities are on the dashboard.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44728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6B5BD6"/>
          </a:solidFill>
          <a:ln w="12700">
            <a:solidFill>
              <a:srgbClr val="6B5B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50215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42900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the planning cycle weekly, not ad hoc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831336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79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the pipeline every Monday against the latest sales and stock extracts. The forecast is only as good as the freshness of its inputs.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74573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6B5BD6"/>
          </a:solidFill>
          <a:ln w="12700">
            <a:solidFill>
              <a:srgbClr val="6B5B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800600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4727448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whether the flags were right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5129784"/>
            <a:ext cx="8503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79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each flagged SKU's outcome for two months. That record is what lets you tighten the safety buffer and cover thresholds with evidence rather than instinct.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852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5B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₹2.1 Cr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3017520" y="5989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value addressable from this week's action list.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FORESIGHT — Executive Readout</dc:title>
  <dc:subject>PptxGenJS Presentation</dc:subject>
  <dc:creator>Zidio Development — Data Science</dc:creator>
  <cp:lastModifiedBy>Zidio Development — Data Science</cp:lastModifiedBy>
  <cp:revision>1</cp:revision>
  <dcterms:created xsi:type="dcterms:W3CDTF">2026-09-16T17:41:02Z</dcterms:created>
  <dcterms:modified xsi:type="dcterms:W3CDTF">2026-09-16T17:41:02Z</dcterms:modified>
</cp:coreProperties>
</file>